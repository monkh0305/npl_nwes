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โครงงานเว็บวิเคราะห์ความคิดเห็นต่อวิดีโอกีฬาบน YouTube ใช้ Gemini จำแนกความรู้สึก อารมณ์ และประเด็นที่ผู้ชมกล่าวถึง ภาพเป็นหน้าจอที่บันทึกไว้ในโปรเจกต์เมื่อ 27 กันยายน 2569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ข้อความในหน้านี้เป็นตัวอย่างสมมติ ไม่ใช่ข้อความที่ดึงจากวิดีโอ ปัญหาคือการอ่านทีละความคิดเห็นทำให้เห็นภาพรวมได้ยาก ระบบจึงช่วยจัดกลุ่มและสรุปให้สำรวจต่อได้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ระบบค้นหาวิดีโอหมวด Sports ผ่าน YouTube API แล้วดึงความคิดเห็นหลัก ส่งข้อความตัวอย่างให้ Gemini และตรวจสอบข้อมูลก่อนบันทึกและแสดงผล ค่าเริ่มต้นวิเคราะห์ไม่เกิน 100 ความคิดเห็นต่อรอบ ไม่รวมทุก reply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ภาพหน้าจอจริงที่จัดเก็บไว้ในโฟลเดอร์ assets แสดงการค้นหาและเลือกวิดีโอ ผู้ใช้เลือกคลิปแล้วเรียกการวิเคราะห์ ภาพนี้เป็นภาพบันทึก ไม่ใช่ข้อมูลสดขณะนำเสนอ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กราฟซ้ายแสดงสัดส่วน sentiment ส่วนกราฟขวาแสดงอารมณ์หลัก ผลจากภาพตัวอย่างมี 27 ความคิดเห็น ใช้เพื่อสาธิตการแสดงผล ไม่ใช่ผลประเมินความแม่นยำของโมเดล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 presentation/evidence.json และภาพ analysis.png ที่บันทึกในโปรเจกต์ ตัวอย่างวิดีโอจาก T Sports 7 บันทึกวันที่ 27 กันยายน 2569 เชิงบวก 51.9 เปอร์เซ็นต์ เป็นกลาง 14.8 เปอร์เซ็นต์ และเชิงลบ 33.3 เปอร์เซ็นต์ ตัวเลขนี้เป็นผลจำแนกของระบบ ไม่ใช่ความแม่นยำและไม่ควรสรุปแทนผู้ชมทั้งหมด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ส่งผลแบบ structured JSON ครอบคลุม sentiment, emotion, topics, keywords และสรุปภาษาไทย หนึ่งความคิดเห็นอาจมีหลายประเด็น สัดส่วนหัวข้อจึงอาจรวมเกิน 100 เปอร์เซ็นต์ จำนวนคำสำคัญนับจากความคิดเห็นจริงตามวิธีในระบบ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และ Vite เป็น frontend ส่วน FastAPI ประสาน YouTube API และ Gemini API ตรวจสอบคำตอบก่อนคำนวณและจัดเก็บด้วย SQLite คีย์ API อยู่ฝั่ง backend ระบบไม่โหลดโมเดลมารันในเครื่อง อ้างอิง README.md และซอร์สโค้ดของโปรเจกต์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ข้อมูลเป็นตัวอย่างความคิดเห็นหลักสูงสุดตามค่าตั้งต้น 100 รายการ ไม่ใช่การสุ่มแทนผู้ชมทั้งหมด โมเดลอาจตีความคำประชดหรือศัพท์กีฬาไม่ตรงบริบท ยังไม่มีผลประเมินความแม่นยำกับชุดข้อมูลที่มนุษย์ติดป้ายกำกับ แผนต่อไปคือสร้างชุดอ้างอิง ประเมิน Macro-F1 และทดสอบการใช้งาน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ปิดการนำเสนอด้วยคุณค่าของโครงงาน คือช่วยสำรวจความคิดเห็นและสื่อสารภาพรวมได้ง่ายขึ้น เปิดให้ถามเรื่องขอบเขตข้อมูล การตรวจสอบคำตอบ และแผนประเมินคุณภาพ แหล่งข้อมูลของสไลด์: README.md, presentation/evidence.json และภาพหน้าจอใน presentation/assets รายละเอียดภาพและข้อจำกัดอยู่ในโน้ตแต่ละหน้า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A7B5D1"/>
                </a:solidFill>
                <a:latin typeface="Leelawadee UI"/>
              </a:defRPr>
            </a:pPr>
            <a:r>
              <a:t>SPORTS ×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344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7B5D1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FFFF"/>
                </a:solidFill>
                <a:latin typeface="Leelawade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212080" cy="1737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FFFFFF"/>
                </a:solidFill>
                <a:latin typeface="Leelawadee UI"/>
              </a:defRPr>
            </a:pPr>
            <a:r>
              <a:t>อ่านเสียงแฟนกีฬา</a:t>
            </a:r>
          </a:p>
          <a:p>
            <a:pPr>
              <a:spcAft>
                <a:spcPts val="500"/>
              </a:spcAft>
              <a:defRPr sz="4400" b="1">
                <a:solidFill>
                  <a:srgbClr val="FFFFFF"/>
                </a:solidFill>
                <a:latin typeface="Leelawadee UI"/>
              </a:defRPr>
            </a:pPr>
            <a:r>
              <a:t>ด้วย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484632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C9D3E5"/>
                </a:solidFill>
                <a:latin typeface="Leelawadee UI"/>
              </a:defRPr>
            </a:pPr>
            <a:r>
              <a:t>วิเคราะห์ความคิดเห็นบน YouTube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4754880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14316"/>
            <a:ext cx="4572000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t>YouTube  →  Gemini  →  Dashboard</a:t>
            </a:r>
          </a:p>
        </p:txBody>
      </p:sp>
      <p:pic>
        <p:nvPicPr>
          <p:cNvPr id="12" name="Picture 11" descr="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76705"/>
            <a:ext cx="5577840" cy="3796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01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คอมเมนต์มากมาย… กำลังบอกอะไรเรา?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93776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09D83"/>
                </a:solidFill>
                <a:latin typeface="Leelawadee UI"/>
              </a:defRPr>
            </a:pPr>
            <a:r>
              <a:t>เล่นได้ยอดเยี่ยม!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79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73552"/>
            <a:ext cx="493776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7155E8"/>
                </a:solidFill>
                <a:latin typeface="Leelawadee UI"/>
              </a:defRPr>
            </a:pPr>
            <a:r>
              <a:t>ทำไมเปลี่ยนตัวตอนนี้?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06240"/>
            <a:ext cx="54864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325112"/>
            <a:ext cx="493776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E34B69"/>
                </a:solidFill>
                <a:latin typeface="Leelawadee UI"/>
              </a:defRPr>
            </a:pPr>
            <a:r>
              <a:t>เสียดายโอกาสมาก</a:t>
            </a:r>
          </a:p>
        </p:txBody>
      </p:sp>
      <p:sp>
        <p:nvSpPr>
          <p:cNvPr id="14" name="Chevron 13"/>
          <p:cNvSpPr/>
          <p:nvPr/>
        </p:nvSpPr>
        <p:spPr>
          <a:xfrm>
            <a:off x="6675120" y="3108960"/>
            <a:ext cx="640080" cy="594360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606040"/>
            <a:ext cx="3657600" cy="1645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18243C"/>
                </a:solidFill>
                <a:latin typeface="Leelawadee UI"/>
              </a:defRPr>
            </a:pPr>
            <a:r>
              <a:t>เห็นภาพรวม</a:t>
            </a:r>
          </a:p>
          <a:p>
            <a:pPr>
              <a:spcAft>
                <a:spcPts val="500"/>
              </a:spcAft>
              <a:defRPr sz="3400" b="1">
                <a:solidFill>
                  <a:srgbClr val="18243C"/>
                </a:solidFill>
                <a:latin typeface="Leelawadee UI"/>
              </a:defRPr>
            </a:pPr>
            <a:r>
              <a:t>ในหน้าจอเดียว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2718B"/>
                </a:solidFill>
                <a:latin typeface="Leelawadee UI"/>
              </a:defRPr>
            </a:pPr>
            <a:r>
              <a:t>ข้อความตัวอย่างประกอบแนวคิด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02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จากวิดีโอ → สู่ความเข้าใจผู้ชม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2377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201168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1879"/>
            <a:ext cx="201168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เลือกวิดีโอกีฬา</a:t>
            </a:r>
          </a:p>
        </p:txBody>
      </p:sp>
      <p:sp>
        <p:nvSpPr>
          <p:cNvPr id="11" name="Chevron 10"/>
          <p:cNvSpPr/>
          <p:nvPr/>
        </p:nvSpPr>
        <p:spPr>
          <a:xfrm>
            <a:off x="3154680" y="3246120"/>
            <a:ext cx="320040" cy="320040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560320"/>
            <a:ext cx="2377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880360"/>
            <a:ext cx="201168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Comments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611879"/>
            <a:ext cx="201168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ดึงความคิดเห็น</a:t>
            </a:r>
          </a:p>
        </p:txBody>
      </p:sp>
      <p:sp>
        <p:nvSpPr>
          <p:cNvPr id="15" name="Chevron 14"/>
          <p:cNvSpPr/>
          <p:nvPr/>
        </p:nvSpPr>
        <p:spPr>
          <a:xfrm>
            <a:off x="6080760" y="3246120"/>
            <a:ext cx="320040" cy="320040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2560320"/>
            <a:ext cx="2377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880360"/>
            <a:ext cx="201168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11879"/>
            <a:ext cx="201168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วิเคราะห์ข้อความ</a:t>
            </a:r>
          </a:p>
        </p:txBody>
      </p:sp>
      <p:sp>
        <p:nvSpPr>
          <p:cNvPr id="19" name="Chevron 18"/>
          <p:cNvSpPr/>
          <p:nvPr/>
        </p:nvSpPr>
        <p:spPr>
          <a:xfrm>
            <a:off x="9006840" y="3246120"/>
            <a:ext cx="320040" cy="320040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0" y="2560320"/>
            <a:ext cx="23774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880360"/>
            <a:ext cx="201168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009D83"/>
                </a:solidFill>
                <a:latin typeface="Leelawadee UI"/>
              </a:defRPr>
            </a:pPr>
            <a: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611879"/>
            <a:ext cx="201168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แสดงภาพรวม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03 / 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เลือกคลิปที่อยากรู้เสียงตอบรับ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04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311" y="1828800"/>
            <a:ext cx="6247777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0" y="2788920"/>
            <a:ext cx="2103120" cy="21945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7155E8"/>
                </a:solidFill>
                <a:latin typeface="Leelawadee UI"/>
              </a:defRPr>
            </a:pPr>
            <a:r>
              <a:t>ค้นหา</a:t>
            </a:r>
          </a:p>
          <a:p>
            <a:pPr>
              <a:spcAft>
                <a:spcPts val="500"/>
              </a:spcAft>
              <a:defRPr sz="2700" b="1">
                <a:solidFill>
                  <a:srgbClr val="7155E8"/>
                </a:solidFill>
                <a:latin typeface="Leelawadee UI"/>
              </a:defRPr>
            </a:pPr>
            <a:r>
              <a:t>เลือกคลิป</a:t>
            </a:r>
          </a:p>
          <a:p>
            <a:pPr>
              <a:spcAft>
                <a:spcPts val="500"/>
              </a:spcAft>
              <a:defRPr sz="2700" b="1">
                <a:solidFill>
                  <a:srgbClr val="7155E8"/>
                </a:solidFill>
                <a:latin typeface="Leelawadee UI"/>
              </a:defRPr>
            </a:pPr>
            <a:r>
              <a:t>วิเคราะห์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04 /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ความรู้สึกและอารมณ์ เห็นได้ในภาพเดียว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05</a:t>
            </a:r>
          </a:p>
        </p:txBody>
      </p:sp>
      <p:pic>
        <p:nvPicPr>
          <p:cNvPr id="8" name="Picture 7" descr="visual-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26" y="1920240"/>
            <a:ext cx="10752867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05 /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ตัวอย่าง 27 ความคิดเห็น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4290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6324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009D83"/>
                </a:solidFill>
                <a:latin typeface="Leelawadee UI"/>
              </a:defRPr>
            </a:pPr>
            <a:r>
              <a:t>51.9%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06324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เชิงบวก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4290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06324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94A3B8"/>
                </a:solidFill>
                <a:latin typeface="Leelawadee UI"/>
              </a:defRPr>
            </a:pPr>
            <a:r>
              <a:t>14.8%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06324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เป็นกลาง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94560"/>
            <a:ext cx="34290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514600"/>
            <a:ext cx="306324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E34B69"/>
                </a:solidFill>
                <a:latin typeface="Leelawadee UI"/>
              </a:defRPr>
            </a:pPr>
            <a:r>
              <a:t>33.3%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46120"/>
            <a:ext cx="306324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เชิงลบ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17720"/>
            <a:ext cx="5505053" cy="45720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2293" y="4617720"/>
            <a:ext cx="1569841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52135" y="4617720"/>
            <a:ext cx="3532144" cy="457200"/>
          </a:xfrm>
          <a:prstGeom prst="rect">
            <a:avLst/>
          </a:prstGeom>
          <a:solidFill>
            <a:srgbClr val="E3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10698480" cy="4572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62718B"/>
                </a:solidFill>
                <a:latin typeface="Leelawadee UI"/>
              </a:defRPr>
            </a:pPr>
            <a:r>
              <a:t>ผลสาธิตจากหนึ่งวิดีโอ • ไม่ใช่ตัวแทนผู้ชมทั้งหมด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06 /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มากกว่าความรู้สึกบวกหรือลบ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1089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009D83"/>
                </a:solidFill>
                <a:latin typeface="Leelawadee UI"/>
              </a:defRPr>
            </a:pPr>
            <a:r>
              <a:t>อารมณ์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ผู้ชมรู้สึกอย่างไร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2316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31089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ประเด็น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ผู้ชมพูดถึงอะไร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42316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1089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E34B69"/>
                </a:solidFill>
                <a:latin typeface="Leelawadee UI"/>
              </a:defRPr>
            </a:pPr>
            <a:r>
              <a:t>สรุปไทย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จับใจความสำคัญ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33272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8243C"/>
                </a:solidFill>
                <a:latin typeface="Leelawadee UI"/>
              </a:defRPr>
            </a:pPr>
            <a:r>
              <a:t>ความรู้สึก  •  อารมณ์  •  หัวข้อ  •  คำสำคัญ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07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เบื้องหลังหน้าจอเดียว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28803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28803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ส่วนติดต่อผู้ใช้</a:t>
            </a:r>
          </a:p>
        </p:txBody>
      </p:sp>
      <p:sp>
        <p:nvSpPr>
          <p:cNvPr id="11" name="Chevron 10"/>
          <p:cNvSpPr/>
          <p:nvPr/>
        </p:nvSpPr>
        <p:spPr>
          <a:xfrm>
            <a:off x="4133087" y="2971800"/>
            <a:ext cx="320040" cy="320040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2240280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560320"/>
            <a:ext cx="28803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28803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ตรวจสอบและคำนวณ</a:t>
            </a:r>
          </a:p>
        </p:txBody>
      </p:sp>
      <p:sp>
        <p:nvSpPr>
          <p:cNvPr id="15" name="Chevron 14"/>
          <p:cNvSpPr/>
          <p:nvPr/>
        </p:nvSpPr>
        <p:spPr>
          <a:xfrm>
            <a:off x="7927848" y="2971800"/>
            <a:ext cx="320040" cy="320040"/>
          </a:xfrm>
          <a:prstGeom prst="chevron">
            <a:avLst/>
          </a:prstGeom>
          <a:solidFill>
            <a:srgbClr val="715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240280"/>
            <a:ext cx="32461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560320"/>
            <a:ext cx="28803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Gemini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291840"/>
            <a:ext cx="28803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วิเคราะห์ภาษา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754880"/>
            <a:ext cx="3749039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768596"/>
            <a:ext cx="3566159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t>YouTube API · แหล่งความคิดเห็น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5349240"/>
            <a:ext cx="3749039" cy="320040"/>
          </a:xfrm>
          <a:prstGeom prst="roundRect">
            <a:avLst>
              <a:gd name="adj" fmla="val 12000"/>
            </a:avLst>
          </a:prstGeom>
          <a:solidFill>
            <a:srgbClr val="ED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5362955"/>
            <a:ext cx="3566159" cy="29260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7155E8"/>
                </a:solidFill>
                <a:latin typeface="Leelawadee UI"/>
              </a:defRPr>
            </a:pPr>
            <a:r>
              <a:t>SQLite · จัดเก็บผลวิเคราะห์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62718B"/>
                </a:solidFill>
                <a:latin typeface="Leelawadee UI"/>
              </a:defRPr>
            </a:pPr>
            <a:r>
              <a:t>08 /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8243C"/>
                </a:solidFill>
                <a:latin typeface="Leelawadee UI"/>
              </a:defRPr>
            </a:pPr>
            <a:r>
              <a:t>อ่านผลอย่างเข้าใจขอบเขต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DCE3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2718B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7155E8"/>
                </a:solidFill>
                <a:latin typeface="Leelawadee UI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1089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009D83"/>
                </a:solidFill>
                <a:latin typeface="Leelawadee UI"/>
              </a:defRPr>
            </a:pPr>
            <a:r>
              <a:t>ตัวอย่าง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ไม่ใช่ผู้ชมทั้งหมด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2316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31089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7155E8"/>
                </a:solidFill>
                <a:latin typeface="Leelawadee UI"/>
              </a:defRPr>
            </a:pPr>
            <a:r>
              <a:t>บริบท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มุก / ประชด / ศัพท์กีฬา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42316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31089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2900" b="1">
                <a:solidFill>
                  <a:srgbClr val="E34B69"/>
                </a:solidFill>
                <a:latin typeface="Leelawadee UI"/>
              </a:defRPr>
            </a:pPr>
            <a:r>
              <a:t>ขั้นต่อไป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74720"/>
            <a:ext cx="310896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800" b="0">
                <a:solidFill>
                  <a:srgbClr val="62718B"/>
                </a:solidFill>
                <a:latin typeface="Leelawadee UI"/>
              </a:defRPr>
            </a:pPr>
            <a:r>
              <a:t>ประเมินเทียบคนจริง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320040"/>
          </a:xfrm>
          <a:prstGeom prst="rect">
            <a:avLst/>
          </a:prstGeom>
          <a:solidFill>
            <a:srgbClr val="00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A7B5D1"/>
                </a:solidFill>
                <a:latin typeface="Leelawadee UI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FFFFF"/>
                </a:solidFill>
                <a:latin typeface="Leelawadee UI"/>
              </a:defRPr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594360" y="6419088"/>
            <a:ext cx="11000232" cy="0"/>
          </a:xfrm>
          <a:prstGeom prst="line">
            <a:avLst/>
          </a:prstGeom>
          <a:ln w="12700">
            <a:solidFill>
              <a:srgbClr val="344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01384"/>
            <a:ext cx="100584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7B5D1"/>
                </a:solidFill>
                <a:latin typeface="Leelawadee UI"/>
              </a:defRPr>
            </a:pPr>
            <a:r>
              <a:t>YOUTUBE SPORTS COMMENT ANALYSIS  /  AUCC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02920" cy="24688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FFFFFF"/>
                </a:solidFill>
                <a:latin typeface="Leelawadee U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789920" cy="1737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FFFFFF"/>
                </a:solidFill>
                <a:latin typeface="Leelawadee UI"/>
              </a:defRPr>
            </a:pPr>
            <a:r>
              <a:t>จากเสียงแฟนกีฬา</a:t>
            </a:r>
          </a:p>
          <a:p>
            <a:pPr>
              <a:spcAft>
                <a:spcPts val="500"/>
              </a:spcAft>
              <a:defRPr sz="4300" b="1">
                <a:solidFill>
                  <a:srgbClr val="FFFFFF"/>
                </a:solidFill>
                <a:latin typeface="Leelawadee UI"/>
              </a:defRPr>
            </a:pPr>
            <a:r>
              <a:t>สู่ภาพรวมที่เข้าใจง่าย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10058400" cy="7315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A99BFF"/>
                </a:solidFill>
                <a:latin typeface="Leelawadee UI"/>
              </a:defRPr>
            </a:pPr>
            <a:r>
              <a:t>YouTube  →  AI  → 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100584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C9D3E5"/>
                </a:solidFill>
                <a:latin typeface="Leelawadee UI"/>
              </a:defRPr>
            </a:pPr>
            <a:r>
              <a:t>คำถามและข้อเสนอแนะ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อ่านเสียงแฟนกีฬา ด้วย AI</dc:title>
  <dc:subject>สไลด์เน้นภาพสำหรับนำเสนอโครงงาน</dc:subject>
  <dc:creator>ผู้จัดทำโครงงาน</dc:creator>
  <cp:keywords>YouTube, Gemini, Sentiment Analysis, Sports, AUCC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