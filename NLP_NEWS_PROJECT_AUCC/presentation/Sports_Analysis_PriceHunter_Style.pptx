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แนะนำโครงงานเว็บวิเคราะห์ความคิดเห็นต่อวิดีโอกีฬาบน YouTube ชื่อ SPORTS INSIGHT ใช้เป็นชื่อในการนำเสนอ ระบบเดิมใช้ Gemini API วิเคราะห์ภาษา รูปแบบภาพอ้างอิงจากไฟล์ PriceHunter ของผู้ใช้ แต่เนื้อหาเป็นของโครงงานกีฬา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ปัญหาที่โครงงานต้องการแก้คือการอ่านความคิดเห็นทีละข้อความทำให้เห็นภาพรวมได้ยาก บริบทเกี่ยวกับนักกีฬา ทีม หรือกรรมการอาจเปลี่ยนความหมายของข้อความ คำถามด้านขวาเป็นคำถามตั้งต้น ไม่ใช่คำพูดจากผู้ใช้ที่สัมภาษณ์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กลุ่มนี้เป็นผู้ใช้เป้าหมายตามลักษณะงาน ไม่ใช่ผลวิจัยความต้องการหรือหลักฐานการยอมรับจากผู้ใช้ ระบบช่วยสำรวจข้อมูล ไม่ตัดสินแทนคนทั้งหมด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ระบบส่งข้อความให้ Gemini จำแนก sentiment และ emotion รวมทั้งประเด็นและคำสำคัญ จากนั้นแสดงกราฟและสรุปภาษาไทย ไม่ได้โหลดหรือฝึกโมเดลภายในเครื่อง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นำผู้ฟังตามขั้นตอนการใช้งานจริง เริ่มค้นหาวิดีโอกีฬา เลือกคลิป แล้วกดวิเคราะห์ การเรียกวิเคราะห์ต้องมีคีย์ Gemini และต้องรอการตอบกลับจากบริการภายนอก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 README.md ระบบใช้วิดีโอหมวด Sports ส่งตัวอย่างความคิดเห็นหลักสูงสุดตามค่าตั้งต้น 100 รายการ จำกัด 2000 ตัวอักษรต่อรายการ Backend ตรวจรูปแบบ JSON และความครบถ้วนของผลสำหรับทุกความคิดเห็นก่อนคำนวณสัดส่วนและบันทึก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การตรวจสอบรูปแบบไม่ใช่การรับรองความแม่นยำด้านภาษา Backend ตรวจ ID ให้ครอบคลุมข้อมูล ตรวจ label ตามชุดที่อนุญาต คำนวณเปอร์เซ็นต์จากผลจริง และไม่บันทึกผลปลอมเมื่อบริการขัดข้อง หนึ่งความคิดเห็นมีได้หลายหัวข้อ สัดส่วนหัวข้อจึงอาจรวมเกิน 100 เปอร์เซ็นต์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สถาปัตยกรรมอ้างอิง README ของโปรเจกต์ Frontend ติดต่อ FastAPI ซึ่งประสานงาน YouTube และ Gemini ก่อนจัดเก็บผลใน SQLite API keys ไม่ถูกส่งให้ frontend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ภาพจาก presentation/assets/dashboard.png เป็นภาพที่บันทึกไว้ในโปรเจกต์ ไม่ใช่ระบบสดขณะนำเสนอ อธิบายส่วนค้นหา รายการวิดีโอ และการเลือกวิดีโอเพื่อวิเคราะห์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ภาพตัดจาก analysis.png ในโปรเจกต์ กราฟซ้ายแสดง sentiment และด้านขวาแสดง emotion ผลในภาพคำนวณจากตัวอย่าง 27 ความคิดเห็น เป็นภาพสาธิตการทำงาน ไม่ใช่ผลประเมินความแม่นยำ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ที่มา presentation/evidence.json บันทึก 27 กันยายน 2569 วิดีโอจาก T Sports 7 จำนวนตัวอย่าง 27 รายการ สัดส่วน 51.9, 14.8, 33.3 เปอร์เซ็นต์ตามผลระบบ ห้ามตีความเป็นค่าความแม่นยำ หรือสรุปแทนกลุ่มผู้ชมทั้งหมด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ไม่รวมทุก reply และไม่ใช่การสุ่มตัวอย่างแทนประชากร ยังไม่มีผลประเมินกับชุดข้อมูลที่มนุษย์ติดป้ายกำกับ ความถูกต้องของโครงสร้างข้อมูลแยกจากความถูกต้องด้านการตีความภาษา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ทั้งหมดเป็นแผนพัฒนาต่อ ไม่ใช่ผลการประเมินที่ทำแล้ว ควรจัดชุดอ้างอิงให้ครอบคลุมบริบทกีฬาและภาษา ใช้ผู้ประเมินมากกว่าหนึ่งคน วิเคราะห์ข้อผิดพลาด และประเมินประสบการณ์การใช้งานจริง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สรุปว่าโครงงานช่วยจัดกลุ่มและแสดงภาพรวมความคิดเห็นให้สำรวจต่อได้ เปิดช่วงคำถาม แหล่งเนื้อหา: README.md, presentation/evidence.json และภาพใน presentation/assets รูปแบบอ้างอิงจาก PriceHunter PDF ที่ผู้ใช้ให้ ไม่ได้นำข้อกล่าวอ้างหรือข้อมูลธุรกิจของเอกสารนั้นมาใช้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PROJECT / NATURAL LANGUAGE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8869680" y="0"/>
            <a:ext cx="3291840" cy="3291840"/>
          </a:xfrm>
          <a:prstGeom prst="ellipse">
            <a:avLst/>
          </a:prstGeom>
          <a:solidFill>
            <a:srgbClr val="FF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21040" y="4389120"/>
            <a:ext cx="2057400" cy="2057400"/>
          </a:xfrm>
          <a:prstGeom prst="ellipse">
            <a:avLst/>
          </a:prstGeom>
          <a:solidFill>
            <a:srgbClr val="E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8412480" cy="8229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395728"/>
            <a:ext cx="41148" cy="502920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68296"/>
            <a:ext cx="82296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อ่านเสียงแฟนกีฬา ด้วย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7223760" cy="12344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จากความคิดเห็นบน YouTube</a:t>
            </a:r>
          </a:p>
          <a:p>
            <a:pPr>
              <a:spcAft>
                <a:spcPts val="500"/>
              </a:spcAft>
              <a:defRPr sz="2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สู่ภาพรวมที่เข้าใจง่าย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47488"/>
            <a:ext cx="2011680" cy="429768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93208"/>
            <a:ext cx="18288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5047488"/>
            <a:ext cx="2011680" cy="429768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5093208"/>
            <a:ext cx="18288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Gemini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5047488"/>
            <a:ext cx="2011680" cy="429768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5093208"/>
            <a:ext cx="18288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React +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01 / ปัญหา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คอมเมนต์มากมาย แต่ภาพรวมยังอ่านยาก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40864"/>
            <a:ext cx="82296" cy="82296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8521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ความคิดเห็นกระจัดกระจาย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63824"/>
            <a:ext cx="82296" cy="82296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58521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มีทั้งคำชม คำถาม และคำวิจารณ์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86784"/>
            <a:ext cx="82296" cy="82296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5852160" cy="5943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บริบทกีฬาเปลี่ยนความหมายของคำ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48840"/>
            <a:ext cx="4206240" cy="237744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377440"/>
            <a:ext cx="3749039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“แฟน ๆ รู้สึกอย่างไร?”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9544"/>
            <a:ext cx="3749039" cy="121615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อ่านทีละข้อความ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ยังตอบภาพรวมได้ยาก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เป้าหมาย: เปลี่ยนข้อความจำนวนมากให้เป็นภาพรวมที่สำรวจต่อได้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02 / ผู้ใช้และคุณค่า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ออกแบบเพื่อคนที่อยากเข้าใจเสียงผู้ชม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29000" cy="278892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42316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2316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08376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ผู้สร้างคอนเทนต์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971800" cy="104241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สำรวจเสียงตอบรับ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ต่อวิดีโอกีฬา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94560"/>
            <a:ext cx="3429000" cy="278892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242316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2316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08376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ผู้สนใจกีฬา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40480"/>
            <a:ext cx="2971800" cy="104241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ดูความรู้สึกและ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ประเด็นที่คนพูดถึง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194560"/>
            <a:ext cx="3429000" cy="278892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9327" y="242316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42316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008376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ผู้ศึกษา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3840480"/>
            <a:ext cx="2971800" cy="104241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สำรวจผลวิเคราะห์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และข้อจำกัดของภาษา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กลุ่มผู้ใช้ที่ออกแบบไว้ • ยังไม่ได้สรุปจากการทดสอบผู้ใช้จริง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03 / แนวคิดของระบบ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เลือกวิดีโอ แล้วให้ AI ช่วยอ่านความคิดเห็น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YouTube  →  ความคิดเห็น  →  Gemini  →  ภาพรวม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ความรู้สึก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35424"/>
            <a:ext cx="2971800" cy="713231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บวก / กลาง / ลบ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703320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อารมณ์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535424"/>
            <a:ext cx="2971800" cy="713231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เช่น ยินดี โกรธ เศร้า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34747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3703320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ประเด็นสำคัญ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4535424"/>
            <a:ext cx="2971800" cy="713231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หัวข้อ คำสำคัญ สรุปไทย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04 /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ผู้ใช้ทำเพียง 3 ขั้นตอน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3246120" cy="256032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278892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ค้นหาคลิปกีฬา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788920" cy="81381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ค้นหา / เลือกหมวด</a:t>
            </a:r>
          </a:p>
        </p:txBody>
      </p:sp>
      <p:sp>
        <p:nvSpPr>
          <p:cNvPr id="12" name="Chevron 11"/>
          <p:cNvSpPr/>
          <p:nvPr/>
        </p:nvSpPr>
        <p:spPr>
          <a:xfrm>
            <a:off x="4096512" y="3337560"/>
            <a:ext cx="274320" cy="274320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2377440"/>
            <a:ext cx="3246120" cy="256032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4296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191256"/>
            <a:ext cx="278892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เลือกวิดีโอ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4023360"/>
            <a:ext cx="2788920" cy="81381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เปิดคลิปที่สนใจ</a:t>
            </a:r>
          </a:p>
        </p:txBody>
      </p:sp>
      <p:sp>
        <p:nvSpPr>
          <p:cNvPr id="18" name="Chevron 17"/>
          <p:cNvSpPr/>
          <p:nvPr/>
        </p:nvSpPr>
        <p:spPr>
          <a:xfrm>
            <a:off x="7863840" y="3337560"/>
            <a:ext cx="274320" cy="274320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0456" y="2377440"/>
            <a:ext cx="3246120" cy="256032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21624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191256"/>
            <a:ext cx="278892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กดวิเคราะห์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4023360"/>
            <a:ext cx="2788920" cy="81381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อ่านกราฟและสรุป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ผลลัพธ์รวมอยู่ในหน้าแดชบอร์ดเดียว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05 / AI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ดึงข้อความ → วิเคราะห์ → ตรวจสอบ → แสดงผล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91256"/>
            <a:ext cx="201168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YouTube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23360"/>
            <a:ext cx="201168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ความคิดเห็นหลัก</a:t>
            </a:r>
          </a:p>
        </p:txBody>
      </p:sp>
      <p:sp>
        <p:nvSpPr>
          <p:cNvPr id="12" name="Chevron 11"/>
          <p:cNvSpPr/>
          <p:nvPr/>
        </p:nvSpPr>
        <p:spPr>
          <a:xfrm>
            <a:off x="3163824" y="3383280"/>
            <a:ext cx="210312" cy="228600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237744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191256"/>
            <a:ext cx="201168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Gemini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4023360"/>
            <a:ext cx="201168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Structured JSON</a:t>
            </a:r>
          </a:p>
        </p:txBody>
      </p:sp>
      <p:sp>
        <p:nvSpPr>
          <p:cNvPr id="18" name="Chevron 17"/>
          <p:cNvSpPr/>
          <p:nvPr/>
        </p:nvSpPr>
        <p:spPr>
          <a:xfrm>
            <a:off x="5980176" y="3383280"/>
            <a:ext cx="210312" cy="228600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2784" y="237744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2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191256"/>
            <a:ext cx="201168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023360"/>
            <a:ext cx="201168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Schema + ID</a:t>
            </a:r>
          </a:p>
        </p:txBody>
      </p:sp>
      <p:sp>
        <p:nvSpPr>
          <p:cNvPr id="24" name="Chevron 23"/>
          <p:cNvSpPr/>
          <p:nvPr/>
        </p:nvSpPr>
        <p:spPr>
          <a:xfrm>
            <a:off x="8796528" y="3383280"/>
            <a:ext cx="210312" cy="228600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89136" y="2377440"/>
            <a:ext cx="2468880" cy="246888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90304" y="260604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260604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191256"/>
            <a:ext cx="201168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4023360"/>
            <a:ext cx="201168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กราฟ + สรุปไทย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ค่าเริ่มต้น: สูงสุด 100 ความคิดเห็น / รอบ • สูงสุด 2,000 ตัวอักษร / ความคิดเห็น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06 / ความน่าเชื่อถือของผล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ตรวจข้อมูลก่อนเปลี่ยนเป็นกราฟ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29000" cy="246888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51460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51460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9816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รูปแบบถูกต้อง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297180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JSON Schema + Pydantic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429000" cy="246888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251460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1460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99816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ผลครบทุกข้อความ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931920"/>
            <a:ext cx="297180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ตรวจ ID และป้ายกำกับ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286000"/>
            <a:ext cx="3429000" cy="246888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9327" y="251460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51460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59" y="3099816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คำนวณจากตัวอย่าง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3931920"/>
            <a:ext cx="2971800" cy="7223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จำนวนในกลุ่ม ÷ n ×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หาก API ล้มเหลวหรือผลไม่ครบ ระบบแจ้งข้อผิดพลาด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07 /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เทคโนโลยีที่ทำงานร่วมกัน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487168" cy="297180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7" y="246888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6888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54096"/>
            <a:ext cx="2029968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หน้าเว็บ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2029968" cy="122529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React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240280"/>
            <a:ext cx="2487168" cy="297180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46888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3054096"/>
            <a:ext cx="2029968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886200"/>
            <a:ext cx="2029968" cy="122529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FastAPI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Pydantic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2240280"/>
            <a:ext cx="2487168" cy="297180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246888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46888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054096"/>
            <a:ext cx="2029968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AI / ข้อมูล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3886200"/>
            <a:ext cx="2029968" cy="122529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Gemini API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YouTube Data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240280"/>
            <a:ext cx="2487168" cy="297180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0304" y="246888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246888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054096"/>
            <a:ext cx="2029968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จัดเก็บผล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886200"/>
            <a:ext cx="2029968" cy="1225295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SQLite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ผลวิเคราะห์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คีย์ API อยู่ฝั่ง Backend • ไม่ต้องรันโมเดลในเครื่อง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08 / DEMO · ค้นหา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หน้าจอจริง: ค้นหาและเลือกวิดีโอ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09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36" y="1920240"/>
            <a:ext cx="6422447" cy="4370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72600" y="2651760"/>
            <a:ext cx="2468880" cy="265176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01  ค้นหา</a:t>
            </a:r>
          </a:p>
          <a:p>
            <a:pPr>
              <a:spcAft>
                <a:spcPts val="500"/>
              </a:spcAft>
              <a:defRPr sz="1900" b="1">
                <a:solidFill>
                  <a:srgbClr val="19253D"/>
                </a:solidFill>
                <a:latin typeface="Leelawadee UI"/>
              </a:defRPr>
            </a:pPr>
          </a:p>
          <a:p>
            <a:pPr>
              <a:spcAft>
                <a:spcPts val="500"/>
              </a:spcAft>
              <a:defRPr sz="1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02  เลือกคลิป</a:t>
            </a:r>
          </a:p>
          <a:p>
            <a:pPr>
              <a:spcAft>
                <a:spcPts val="500"/>
              </a:spcAft>
              <a:defRPr sz="1900" b="1">
                <a:solidFill>
                  <a:srgbClr val="19253D"/>
                </a:solidFill>
                <a:latin typeface="Leelawadee UI"/>
              </a:defRPr>
            </a:pPr>
          </a:p>
          <a:p>
            <a:pPr>
              <a:spcAft>
                <a:spcPts val="500"/>
              </a:spcAft>
              <a:defRPr sz="1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03  วิเคราะห์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09 / DEMO · ผลวิเคราะห์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หน้าจอจริง: อ่านภาพรวมความรู้สึก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10</a:t>
            </a:r>
          </a:p>
        </p:txBody>
      </p:sp>
      <p:pic>
        <p:nvPicPr>
          <p:cNvPr id="7" name="Picture 6" descr="visual-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57" y="1965960"/>
            <a:ext cx="10184325" cy="37673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ซ้าย: ความรู้สึกบวก / กลาง / ลบ     ขวา: อารมณ์หลักของผู้ชม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10 / ผลลัพธ์สาธิต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ตัวอย่างผลจาก 27 ความคิดเห็น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429000" cy="219456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880360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51.9%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88036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เชิงบวก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29000" cy="219456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880360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14.8%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288036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เป็นกลาง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194560"/>
            <a:ext cx="3429000" cy="219456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880360" cy="77724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DA527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33.3%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66160"/>
            <a:ext cx="288036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เชิงลบ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46320"/>
            <a:ext cx="5599968" cy="347472"/>
          </a:xfrm>
          <a:prstGeom prst="rect">
            <a:avLst/>
          </a:prstGeom>
          <a:solidFill>
            <a:srgbClr val="299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5768" y="4846320"/>
            <a:ext cx="1596908" cy="347472"/>
          </a:xfrm>
          <a:prstGeom prst="rect">
            <a:avLst/>
          </a:prstGeom>
          <a:solidFill>
            <a:srgbClr val="A1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676" y="4846320"/>
            <a:ext cx="3593043" cy="347472"/>
          </a:xfrm>
          <a:prstGeom prst="rect">
            <a:avLst/>
          </a:prstGeom>
          <a:solidFill>
            <a:srgbClr val="DA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ตัวอย่างจากหนึ่งวิดีโอ • ไม่ใช่ความแม่นยำของโมเดลหรือความเห็นของผู้ชมทั้งหมด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11 / ข้อจำกัด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สิ่งที่ยังต้องระวังในการตีความ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429000" cy="274320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ขอบเขตข้อมูล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46704"/>
            <a:ext cx="2971800" cy="1581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ตัวอย่างความคิดเห็นหลัก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ไม่ครอบคลุมผู้ชมทั้งหมด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429000" cy="274320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ความหมายของภาษา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46704"/>
            <a:ext cx="2971800" cy="1581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คำประชด มุก และศัพท์กีฬา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อาจตีความคลาดเคลื่อน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286000"/>
            <a:ext cx="3429000" cy="274320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514600"/>
            <a:ext cx="297180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บริการภายนอก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3346704"/>
            <a:ext cx="2971800" cy="158191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ขึ้นกับโควตา เครือข่าย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และการตอบกลับของ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733288"/>
            <a:ext cx="10917936" cy="484632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797296"/>
            <a:ext cx="10515600" cy="33832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ใช้ผลวิเคราะห์เป็นจุดเริ่มต้นในการสำรวจ แล้วอ่านบริบทประกอบ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F0781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12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ก้าวต่อไป: วัดคุณภาพและทดสอบกับผู้ใช้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51460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9816"/>
            <a:ext cx="283464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สร้างชุดอ้างอิง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834640" cy="11795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ให้คนติดป้ายกำกับ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และตรวจความสอดคล้อง</a:t>
            </a:r>
          </a:p>
        </p:txBody>
      </p:sp>
      <p:sp>
        <p:nvSpPr>
          <p:cNvPr id="12" name="Chevron 11"/>
          <p:cNvSpPr/>
          <p:nvPr/>
        </p:nvSpPr>
        <p:spPr>
          <a:xfrm>
            <a:off x="4123944" y="3566160"/>
            <a:ext cx="246888" cy="246888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228600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FF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54296" y="251460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251460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099816"/>
            <a:ext cx="283464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ประเมินโมเดล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931920"/>
            <a:ext cx="2834640" cy="11795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Macro-F1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Confusion matrix</a:t>
            </a:r>
          </a:p>
        </p:txBody>
      </p:sp>
      <p:sp>
        <p:nvSpPr>
          <p:cNvPr id="18" name="Chevron 17"/>
          <p:cNvSpPr/>
          <p:nvPr/>
        </p:nvSpPr>
        <p:spPr>
          <a:xfrm>
            <a:off x="7891271" y="3566160"/>
            <a:ext cx="246888" cy="246888"/>
          </a:xfrm>
          <a:prstGeom prst="chevron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0456" y="228600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21624" y="2514600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514600"/>
            <a:ext cx="438912" cy="384048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099816"/>
            <a:ext cx="2834640" cy="7132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253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ทดสอบใช้งาน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931920"/>
            <a:ext cx="2834640" cy="1179576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เวลารอผล</a:t>
            </a:r>
          </a:p>
          <a:p>
            <a:pPr>
              <a:spcAft>
                <a:spcPts val="500"/>
              </a:spcAft>
              <a:defRPr sz="16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ความเข้าใจของผู้ใช้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058400" cy="2743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299C7D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13 / สรุป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09728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จากคอมเมนต์ → สู่ความเข้าใจผู้ชม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709928"/>
            <a:ext cx="713232" cy="41148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6510528"/>
            <a:ext cx="9144000" cy="1828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A6AEBB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SPORTS INSIGHT  /  NLP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256032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697180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38328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5B67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ปัญหา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38328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CE3EC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ข้อความมาก อ่านภาพรวมยาก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377440"/>
            <a:ext cx="338328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5B67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วิธีทำ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063240"/>
            <a:ext cx="338328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CE3EC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YouTube + Gemini +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383280" cy="50292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5B678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คุณค่า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63240"/>
            <a:ext cx="338328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DCE3EC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สำรวจเสียงแฟนกีฬาได้ง่ายขึ้น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058400" cy="91440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FFFFFF"/>
                </a:solidFill>
                <a:latin typeface="Leelawadee UI"/>
              </a:defRPr>
            </a:pPr>
            <a:r>
              <a:rPr>
                <a:ea typeface="Leelawadee UI"/>
                <a:cs typeface="Leelawadee UI"/>
              </a:rPr>
              <a:t>ขอบคุณครับ / 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INSIGHT | วิเคราะห์เสียงแฟนกีฬาด้วย AI</dc:title>
  <dc:subject>การนำเสนอโครงงาน — รูปแบบอ้างอิง PriceHunter</dc:subject>
  <dc:creator>ผู้จัดทำโครงงาน</dc:creator>
  <cp:keywords>YouTube, Gemini, Sentiment Analysis, Sports, AUCC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