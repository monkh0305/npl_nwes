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สัดส่วน</c:v>
                </c:pt>
              </c:strCache>
            </c:strRef>
          </c:tx>
          <c:dPt>
            <c:idx val="0"/>
            <c:spPr>
              <a:solidFill>
                <a:srgbClr val="009D83"/>
              </a:solidFill>
              <a:ln>
                <a:noFill/>
              </a:ln>
            </c:spPr>
          </c:dPt>
          <c:dPt>
            <c:idx val="1"/>
            <c:spPr>
              <a:solidFill>
                <a:srgbClr val="9BA9C0"/>
              </a:solidFill>
              <a:ln>
                <a:noFill/>
              </a:ln>
            </c:spPr>
          </c:dPt>
          <c:dPt>
            <c:idx val="2"/>
            <c:spPr>
              <a:solidFill>
                <a:srgbClr val="E34B69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เชิงบวก</c:v>
                </c:pt>
                <c:pt idx="1">
                  <c:v>เป็นกลาง</c:v>
                </c:pt>
                <c:pt idx="2">
                  <c:v>เชิงลบ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51.9</c:v>
                </c:pt>
                <c:pt idx="1">
                  <c:v>14.8</c:v>
                </c:pt>
                <c:pt idx="2">
                  <c:v>33.3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30 วินาที แนะนำชื่อโครงงาน ผู้จัดทำ และอาจารย์ที่ปรึกษา งานนี้ประยุกต์ Gemini ผ่าน API เพื่อช่วยอ่านภาพรวมความคิดเห็นต่อวิดีโอกีฬา ไม่ใช่การฝึกโมเดลใหม่ เติมข้อมูลผู้จัดทำก่อนส่ง และตรวจรูปแบบกับงาน AUCC รุ่นที่จะส่งอีกครั้ง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45 วินาที อธิบายแรงจูงใจของการพัฒนาระบบ ไม่อ้างตัวเลขปริมาณข้อมูลหรือเวลาที่ประหยัดได้โดยยังไม่ได้ทดลอง เน้นความต่างระหว่างการอ่านแต่ละข้อความกับการเห็นสัดส่วนรวม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45 วินาที ใช้ top-level comments ตามที่ API ส่งมา ไม่ใช่การสุ่มตัวอย่างเชิงสถิติ และไม่ใช่ทุกความคิดเห็นรวม replies ขนาดจริงอาจน้อยกว่า 100 ถ้ามีข้อมูลน้อยกว่า อ้างอิง app/config.py และ youtube_service.py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60 วินาที Frontend ใช้ React, Tailwind และ Recharts ติดต่อ FastAPI ผ่าน /api Backend ติดต่อ YouTube และ Gemini โดยไม่ส่ง API key ไปหน้าเว็บ ผลถูกเก็บด้วย SQLAlchemy ใน SQLite ไม่มีการประมวลผลโมเดลภายในเครื่อง Cloudflare เป็นทางเชื่อมเข้าเครื่องที่รันระบบ ไม่ใช่ที่รันโมเดล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50 วินาที ลำดับนี้อ้างจาก _run_analysis ใน routers/analysis.py หลังเรียก Gemini จะตรวจผลครบก่อนคำนวณสถิติและ commit ฐานข้อมูล หน้าจอโหลดรายละเอียดวิดีโอขนานกับการวิเคราะห์ แต่รอความคิดเห็นยอดนิยมอีกครั้งก่อนแสดงผลทั้งหมด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60 วินาที อธิบาย sentiment เทียบกับ emotion: sentiment เป็นแนวโน้มบวกกลางลบ ส่วน emotion เป็นยินดี โกรธ เศร้า ประหลาดใจ กลัว และเป็นกลาง Topics มี 12 กลุ่มแต่จำนวนที่พบในแต่ละวิดีโออาจน้อยกว่า ทุกเปอร์เซ็นต์นับจากรายการที่ตรวจครบแล้ว ไม่ใช่ confidence ของโมเดล Structured output ยืนยันโครงสร้าง ไม่รับประกันความถูกต้องทางความหมาย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45 วินาที อธิบายองค์ประกอบหน้าจอและเส้นทางใช้งาน ภาพนี้จับจากระบบจริงในวันที่ 27 กันยายน 2569 รายการยอดนิยมและอันดับแสดงตามข้อมูลที่ระบบดึงมา ไม่ใช่อันดับกีฬาทั้งโลก ภาพปกและชื่อวิดีโอเป็นของเจ้าของเนื้อหาบน YouTube ใช้ประกอบการสาธิตเชิงการศึกษา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50 วินาที ภาพนี้ใช้ผลจริงจาก AnalysisSnapshot ที่บันทึกไว้วันที่ 27 กันยายน 2569 เวลา 12:03:19 UTC โดย replay response เฉพาะระหว่างจับภาพ ไม่เรียก inference ใหม่ กราฟในภาพจึงเป็นผลที่มีหลักฐาน ไม่ใช่ภาพจำลองหรือข้อมูลสมมติ อธิบาย n=27 และแยก sentiment กับ emotion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60 วินาที อ้างอิง snapshot ของ video_id K01DQ6BSLHE ใน evidence.json ตัวเลข sentiment เท่ากับ 14/27, 4/27, 9/27 ตามผลจัดกลุ่มของโมเดล ประเด็นนักกีฬา 15/27 และผลงาน 10/27 ผู้จัดทำยังไม่ได้ตรวจ label กับผู้ประเมินมนุษย์ ห้ามพูดว่าแม่นยำ 51.9% และอย่าใช้จำนวน comment_count ปัจจุบันของ YouTube เป็นตัวหารแทน sample_size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50 วินาที ทดสอบจริงวันที่ 27 กันยายน 2569 exit code 0: 36 passed, 58 warnings in 1.19s รายงาน test-results.txt Warnings เป็น deprecation จึงยังมีงานดูแล dependency และเวลา 1.19 วินาทีเป็นเวลารัน tests ไม่ใช่ความเร็ววิเคราะห์จริง Tests จำลอง API จึงยืนยันการทำงานซอฟต์แวร์ ไม่ใช่ความแม่นยำ sentiment/emotion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45 วินาที การใช้ Cloudflare ไม่ย้าย backend ไปโฮสต์บน Cloudflare ตัวแอปยังอยู่ที่เครื่องผู้พัฒนา การวิเคราะห์ขึ้นกับ API ภายนอก ปัจจุบันเปิดหน้าวิเคราะห์ใหม่จะเรียก Gemini อีกครั้งและกราฟยังรอคอมเมนต์ยอดนิยม ไม่มีผล benchmark p50/p95 จึงไม่ระบุตัวเลขความเร็ว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50 วินาที ย้ำว่ากราฟไม่ใช่ผลสำรวจประชากร และข้อความสรุปเป็นการสรุปความเห็น ไม่ยืนยันข้อกล่าวหาจากคอมเมนต์ ผลแต่ละครั้งอาจเปลี่ยนได้แม้ temperature ต่ำ ข้อมูลที่มีใน snapshot ยังไม่เพียงพอสำหรับทำซ้ำการทดลองอย่างสมบูรณ์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45 วินาที นี่คือข้อเสนอการประเมิน ไม่ใช่สิ่งที่ทำแล้ว ต้องกำหนดจำนวนตัวอย่าง แผนสุ่ม เกณฑ์การให้ label และข้อตกลงผู้ประเมินก่อนทดลอง การทดสอบ topics เป็น multi-label ต้องเลือก metric ที่เหมาะ เช่น micro/macro F1 และบันทึกเวอร์ชันโมเดลกับ prompt เพื่อทำซ้ำได้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เวลาแนะนำ 40 วินาที สรุปผลงานเป็นระบบต้นแบบที่ใช้งานได้และมีการทดสอบการทำงาน อย่าอ้างความใหม่ด้านอัลกอริทึมหรือเหนือกว่าวิธีอื่น จุดต่อยอดเชิงวิศวกรรมคือใช้ snapshot เดิมและลดงานที่ต้องรอต่อเนื่อง จุดต่อยอดวิจัยคือประเมินกับข้อมูลอ้างอิง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แหล่งอ้างอิงเป็นเอกสารทางการ ลิงก์ชื่อรายการกดได้ หลักฐานท้องถิ่นอยู่ในโฟลเดอร์ presentation ภาพหน้าจอ UI ใช้ภาพปกและชื่อวิดีโอจาก YouTube เพื่อแสดงการทำงาน ไม่ใช่ผลงานภาพของผู้จัดทำ ไม่ได้อ้างว่าสไลด์ชุดนี้เป็นแม่แบบบังคับของ AUCC ต้องตรวจรูปแบบและกำหนดการของรุ่นงานที่จะสมัคร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เตรียมตอบคำถาม: 1) ทำไมไม่ train โมเดลเอง: ขอบเขตนี้เน้นประยุกต์ API และตรวจโครงสร้างผล 2) แม่นยำแค่ไหน: ยังไม่มี gold labels ไม่อ้าง accuracy 3) ทำไม 27 ทั้งที่หน้าวิดีโอมี 33: ใช้เฉพาะ top-level ที่ดึงได้ ณ เวลาวิเคราะห์ จำนวนหน้า YouTube อาจรวม replies/เปลี่ยนตามเวลา 4) ทำไม topics เกิน 100: หนึ่งคอมเมนต์มีหลายหัวข้อ 5) Cloudflare เก็บคีย์หรือไม่: คีย์อ่านจาก backend/.env และไม่ฝังใน frontend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elopers.google.com/youtube/v3/docs/search/list" TargetMode="External"/><Relationship Id="rId3" Type="http://schemas.openxmlformats.org/officeDocument/2006/relationships/hyperlink" Target="https://developers.google.com/youtube/v3/docs/commentThreads/list" TargetMode="External"/><Relationship Id="rId4" Type="http://schemas.openxmlformats.org/officeDocument/2006/relationships/hyperlink" Target="https://ai.google.dev/gemini-api/docs/structured-output" TargetMode="External"/><Relationship Id="rId5" Type="http://schemas.openxmlformats.org/officeDocument/2006/relationships/hyperlink" Target="https://developers.cloudflare.com/cloudflare-one/networks/connectors/cloudflare-tunnel/do-more-with-tunnels/trycloudflare/" TargetMode="External"/><Relationship Id="rId6" Type="http://schemas.openxmlformats.org/officeDocument/2006/relationships/hyperlink" Target="https://aucc2026.rbru.ac.th/submission/submission-guideline/" TargetMode="Externa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A7B5D1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UNDERGRADUATE PROJECT • ORAL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344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7B5D1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33271"/>
            <a:ext cx="3931920" cy="320040"/>
          </a:xfrm>
          <a:prstGeom prst="roundRect">
            <a:avLst>
              <a:gd name="adj" fmla="val 12000"/>
            </a:avLst>
          </a:prstGeom>
          <a:solidFill>
            <a:srgbClr val="25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046987"/>
            <a:ext cx="3749039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C7BA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NLP × SPORTS ×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6583680" cy="22677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ระบบวิเคราะห์ความคิดเห็น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ต่อวิดีโอกีฬาบน YouTube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ด้วย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206240"/>
            <a:ext cx="6400800" cy="7315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B6C5D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</a:t>
            </a:r>
          </a:p>
          <a:p>
            <a:pPr>
              <a:spcAft>
                <a:spcPts val="500"/>
              </a:spcAft>
              <a:defRPr sz="2000" b="0">
                <a:solidFill>
                  <a:srgbClr val="B6C5D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with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212080"/>
            <a:ext cx="6400800" cy="98755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C9D3E5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ผู้จัดทำ: [ชื่อ–นามสกุล / รหัสนักศึกษา]</a:t>
            </a:r>
          </a:p>
          <a:p>
            <a:pPr>
              <a:spcAft>
                <a:spcPts val="500"/>
              </a:spcAft>
              <a:defRPr sz="1500" b="0">
                <a:solidFill>
                  <a:srgbClr val="C9D3E5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อาจารย์ที่ปรึกษา: [ชื่ออาจารย์]</a:t>
            </a:r>
          </a:p>
          <a:p>
            <a:pPr>
              <a:spcAft>
                <a:spcPts val="500"/>
              </a:spcAft>
              <a:defRPr sz="1500" b="0">
                <a:solidFill>
                  <a:srgbClr val="C9D3E5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[สาขาวิชา / มหาวิทยาลัย]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73736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1C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7" y="2011680"/>
            <a:ext cx="3108960" cy="365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6C5D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COMMENTS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642616"/>
            <a:ext cx="3035808" cy="438912"/>
          </a:xfrm>
          <a:prstGeom prst="roundRect">
            <a:avLst>
              <a:gd name="adj" fmla="val 12000"/>
            </a:avLst>
          </a:prstGeom>
          <a:solidFill>
            <a:srgbClr val="293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761488"/>
            <a:ext cx="118872" cy="118872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688336"/>
            <a:ext cx="2331720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ชื่นชมผลงาน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236976"/>
            <a:ext cx="3035808" cy="438912"/>
          </a:xfrm>
          <a:prstGeom prst="roundRect">
            <a:avLst>
              <a:gd name="adj" fmla="val 12000"/>
            </a:avLst>
          </a:prstGeom>
          <a:solidFill>
            <a:srgbClr val="293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355848"/>
            <a:ext cx="118872" cy="118872"/>
          </a:xfrm>
          <a:prstGeom prst="rect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3282696"/>
            <a:ext cx="2331720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ตั้งคำถาม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831336"/>
            <a:ext cx="3035808" cy="438912"/>
          </a:xfrm>
          <a:prstGeom prst="roundRect">
            <a:avLst>
              <a:gd name="adj" fmla="val 12000"/>
            </a:avLst>
          </a:prstGeom>
          <a:solidFill>
            <a:srgbClr val="293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950208"/>
            <a:ext cx="118872" cy="118872"/>
          </a:xfrm>
          <a:prstGeom prst="rect">
            <a:avLst/>
          </a:prstGeom>
          <a:solidFill>
            <a:srgbClr val="E3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3877056"/>
            <a:ext cx="2331720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สะท้อนปัญหา</a:t>
            </a:r>
          </a:p>
        </p:txBody>
      </p:sp>
      <p:sp>
        <p:nvSpPr>
          <p:cNvPr id="24" name="Chevron 23"/>
          <p:cNvSpPr/>
          <p:nvPr/>
        </p:nvSpPr>
        <p:spPr>
          <a:xfrm>
            <a:off x="9381744" y="4562856"/>
            <a:ext cx="365760" cy="310896"/>
          </a:xfrm>
          <a:prstGeom prst="chevron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5202936"/>
            <a:ext cx="3017520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ข้อมูล → ภาพรวม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จากความคิดเห็นรายข้อความ สู่ภาพรวมที่อ่านได้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46504"/>
            <a:ext cx="1097280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โจทย์ของโครงงาน: จะรวบรวมและสรุปความคิดเห็นต่อวิดีโอกีฬาอย่างเป็นระบบได้อย่างไร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5204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0292" cy="3200400"/>
          </a:xfrm>
          <a:prstGeom prst="rect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65176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6"/>
            <a:ext cx="306324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ความคิดเห็นหลากหลาย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3063240" cy="142646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มีทั้งคำชม คำถาม และข้อวิจารณ์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การอ่านทีละข้อความทำให้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เปรียบเทียบภาพรวมได้ยาก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514600"/>
            <a:ext cx="35204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50292" cy="320040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65176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74136"/>
            <a:ext cx="306324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บริบทเฉพาะของกีฬา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42232"/>
            <a:ext cx="3063240" cy="142646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กล่าวถึงนักกีฬา ทีม กรรมการ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และผลการแข่งขัน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หนึ่งข้อความมีหลายประเด็น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514600"/>
            <a:ext cx="35204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514600"/>
            <a:ext cx="50292" cy="3200400"/>
          </a:xfrm>
          <a:prstGeom prst="rect">
            <a:avLst/>
          </a:prstGeom>
          <a:solidFill>
            <a:srgbClr val="E3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265176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34B6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74136"/>
            <a:ext cx="306324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ต้องสรุปอย่างมีขอบเขต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42232"/>
            <a:ext cx="3063240" cy="142646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ต้องบอกจำนวนตัวอย่าง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และแยกความเห็นของผู้ชม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ออกจากข้อเท็จจริง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 /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วัตถุประสงค์และขอบเขตของระบบ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075688"/>
            <a:ext cx="438912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9404"/>
            <a:ext cx="256031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61972"/>
            <a:ext cx="6492240" cy="7680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ค้นหาและเลือกวิดีโอกีฬาจาก YouTube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090672"/>
            <a:ext cx="438912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104388"/>
            <a:ext cx="256031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76956"/>
            <a:ext cx="6492240" cy="7680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จำแนกความรู้สึก อารมณ์ และประเด็นที่กล่าวถึง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105656"/>
            <a:ext cx="438912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119372"/>
            <a:ext cx="256031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91940"/>
            <a:ext cx="6492240" cy="7680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แสดงกราฟ สรุปภาษาไทย และจัดเก็บผลวิเคราะห์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75688"/>
            <a:ext cx="3246120" cy="3904487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359152"/>
            <a:ext cx="269748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ขอบเขตข้อมูล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2697480" cy="65836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9CE8D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≤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697480" cy="4937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ความคิดเห็นหลักต่อรอบ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24528"/>
            <a:ext cx="2697480" cy="1417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≤ 2,000 ตัวอักษร/ข้อความ</a:t>
            </a:r>
          </a:p>
          <a:p>
            <a:pPr>
              <a:spcAft>
                <a:spcPts val="500"/>
              </a:spcAft>
              <a:defRPr sz="17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ภาษาไทยและอังกฤษ</a:t>
            </a:r>
          </a:p>
          <a:p>
            <a:pPr>
              <a:spcAft>
                <a:spcPts val="500"/>
              </a:spcAft>
              <a:defRPr sz="17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หมวด Sports (รหัส 17)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722376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ไม่รวมการดึงทุก reply และไม่อ้างว่าเป็นตัวแทนผู้ชมทั้งหมด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สถาปัตยกรรม: แยกหน้าจอ การวิเคราะห์ และแหล่งข้อมูล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07792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2057400" cy="438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02736"/>
            <a:ext cx="2057400" cy="3931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แดชบอร์ด / กราฟ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907792"/>
            <a:ext cx="2743200" cy="146304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7" y="3081528"/>
            <a:ext cx="2377440" cy="438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7" y="3602736"/>
            <a:ext cx="2377440" cy="3931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ตรวจผล / รวมสถิติ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121408"/>
            <a:ext cx="359359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295144"/>
            <a:ext cx="3227832" cy="438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Data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816352"/>
            <a:ext cx="3227832" cy="3931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ข้อมูลวิดีโอและความคิดเห็น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429000"/>
            <a:ext cx="359359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3602736"/>
            <a:ext cx="3227832" cy="438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Gemini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4123944"/>
            <a:ext cx="3227832" cy="3931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Structured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500176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7" y="5175504"/>
            <a:ext cx="2377440" cy="438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7" y="5696712"/>
            <a:ext cx="2377440" cy="3931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บันทึกผลแต่ละครั้ง</a:t>
            </a:r>
          </a:p>
        </p:txBody>
      </p:sp>
      <p:sp>
        <p:nvSpPr>
          <p:cNvPr id="23" name="Chevron 22"/>
          <p:cNvSpPr/>
          <p:nvPr/>
        </p:nvSpPr>
        <p:spPr>
          <a:xfrm>
            <a:off x="3227832" y="3447288"/>
            <a:ext cx="347472" cy="292608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492240" y="3639312"/>
            <a:ext cx="630936" cy="0"/>
          </a:xfrm>
          <a:prstGeom prst="line">
            <a:avLst/>
          </a:prstGeom>
          <a:ln w="25400">
            <a:solidFill>
              <a:srgbClr val="715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23176" y="2615184"/>
            <a:ext cx="0" cy="1289303"/>
          </a:xfrm>
          <a:prstGeom prst="line">
            <a:avLst/>
          </a:prstGeom>
          <a:ln w="25400">
            <a:solidFill>
              <a:srgbClr val="715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23176" y="2615184"/>
            <a:ext cx="576072" cy="0"/>
          </a:xfrm>
          <a:prstGeom prst="line">
            <a:avLst/>
          </a:prstGeom>
          <a:ln w="25400">
            <a:solidFill>
              <a:srgbClr val="715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23176" y="3904487"/>
            <a:ext cx="576072" cy="0"/>
          </a:xfrm>
          <a:prstGeom prst="line">
            <a:avLst/>
          </a:prstGeom>
          <a:ln w="25400">
            <a:solidFill>
              <a:srgbClr val="715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20640" y="4379976"/>
            <a:ext cx="0" cy="603504"/>
          </a:xfrm>
          <a:prstGeom prst="line">
            <a:avLst/>
          </a:prstGeom>
          <a:ln w="25400">
            <a:solidFill>
              <a:srgbClr val="009D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33856" y="4690872"/>
            <a:ext cx="1600200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5296" y="4704588"/>
            <a:ext cx="141732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 /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4992624"/>
            <a:ext cx="3593592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API keys อยู่ฝั่ง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71616"/>
            <a:ext cx="10789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Cloudflare Tunnel ใช้เปิดทางเข้าจากอินเทอร์เน็ต → frontend → /api →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04 /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กระบวนการวิเคราะห์ตั้งแต่เลือกวิดีโอจนแสดงผล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9192"/>
            <a:ext cx="211226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852928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1" y="2866644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83864"/>
            <a:ext cx="1810512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เลือกวิดีโอ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123944"/>
            <a:ext cx="1810512" cy="7955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ค้นหา / เลือกหมวด</a:t>
            </a:r>
          </a:p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จากรายการกีฬา</a:t>
            </a:r>
          </a:p>
        </p:txBody>
      </p:sp>
      <p:sp>
        <p:nvSpPr>
          <p:cNvPr id="13" name="Chevron 12"/>
          <p:cNvSpPr/>
          <p:nvPr/>
        </p:nvSpPr>
        <p:spPr>
          <a:xfrm>
            <a:off x="2788920" y="3703320"/>
            <a:ext cx="128016" cy="210312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44368" y="2679192"/>
            <a:ext cx="211226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2852928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866644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5" y="3483864"/>
            <a:ext cx="1810512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ดึงความคิดเห็น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815" y="4123944"/>
            <a:ext cx="1810512" cy="7955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เก็บข้อความหลัก</a:t>
            </a:r>
          </a:p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สูงสุด 100 รายการ</a:t>
            </a:r>
          </a:p>
        </p:txBody>
      </p:sp>
      <p:sp>
        <p:nvSpPr>
          <p:cNvPr id="19" name="Chevron 18"/>
          <p:cNvSpPr/>
          <p:nvPr/>
        </p:nvSpPr>
        <p:spPr>
          <a:xfrm>
            <a:off x="5093208" y="3703320"/>
            <a:ext cx="128016" cy="210312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8656" y="2679192"/>
            <a:ext cx="211226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13248" y="2852928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2866644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3483864"/>
            <a:ext cx="1810512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เรียก 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4123944"/>
            <a:ext cx="1810512" cy="7955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กำหนด prompt</a:t>
            </a:r>
          </a:p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และ JSON schema</a:t>
            </a:r>
          </a:p>
        </p:txBody>
      </p:sp>
      <p:sp>
        <p:nvSpPr>
          <p:cNvPr id="25" name="Chevron 24"/>
          <p:cNvSpPr/>
          <p:nvPr/>
        </p:nvSpPr>
        <p:spPr>
          <a:xfrm>
            <a:off x="7397496" y="3703320"/>
            <a:ext cx="128016" cy="210312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52944" y="2679192"/>
            <a:ext cx="211226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17536" y="2852928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5" y="2866644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483864"/>
            <a:ext cx="1810512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ตรวจและรวมผล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123944"/>
            <a:ext cx="1810512" cy="7955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 ID / ประเภท</a:t>
            </a:r>
          </a:p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คำนวณเปอร์เซ็นต์</a:t>
            </a:r>
          </a:p>
        </p:txBody>
      </p:sp>
      <p:sp>
        <p:nvSpPr>
          <p:cNvPr id="31" name="Chevron 30"/>
          <p:cNvSpPr/>
          <p:nvPr/>
        </p:nvSpPr>
        <p:spPr>
          <a:xfrm>
            <a:off x="9701784" y="3703320"/>
            <a:ext cx="128016" cy="210312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857232" y="2679192"/>
            <a:ext cx="211226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21824" y="2852928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3263" y="2866644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483864"/>
            <a:ext cx="1810512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บันทึกและแสดง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4123944"/>
            <a:ext cx="1810512" cy="7955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เก็บ snapshot</a:t>
            </a:r>
          </a:p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แสดงกราฟ + สรุป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" y="5522976"/>
            <a:ext cx="10844784" cy="521207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586984"/>
            <a:ext cx="10387584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ข้อมูลครบและรูปแบบถูกต้องก่อนบันทึกผล — หากผิดพลาด แจ้งเหตุผลให้ผู้ใช้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05 / STRUCTURED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ผลลัพธ์มีโครงสร้าง และตรวจสอบก่อนคำนวณ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286000"/>
            <a:ext cx="3218688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459736"/>
            <a:ext cx="868680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523744"/>
            <a:ext cx="1856231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337560"/>
            <a:ext cx="2798064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บวก / เป็นกลาง / ลบ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286000"/>
            <a:ext cx="3218688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59736"/>
            <a:ext cx="868680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523744"/>
            <a:ext cx="1856231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Emotion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337560"/>
            <a:ext cx="2798064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อารมณ์หลัก 1 กลุ่มต่อข้อความ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2286000"/>
            <a:ext cx="3218688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459736"/>
            <a:ext cx="868680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E34B6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2523744"/>
            <a:ext cx="1856231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337560"/>
            <a:ext cx="2798064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หลายประเด็นต่อข้อความได้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07992"/>
            <a:ext cx="544068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ตรวจด้วย JSON Schema + Pydantic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56632"/>
            <a:ext cx="5212080" cy="10515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ID ของความคิดเห็นต้องครบและไม่ซ้ำ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ค่า label ต้องอยู่ในชุดที่กำหนด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ผลผิดรูปแบบ: ลองใหม่ได้อีก 1 ครั้ง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462272"/>
            <a:ext cx="4892040" cy="1673352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4681728"/>
            <a:ext cx="4462272" cy="6126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สัดส่วน = (จำนวนในกลุ่ม ÷ n)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486400"/>
            <a:ext cx="4443984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Topics รวมเกิน 100% ได้ เพราะเป็นหลายป้ายกำกับ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06 / 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หน้าค้นหาและเลือกวิดีโอ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46504"/>
            <a:ext cx="1097280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ภาพหน้าจอจากระบบจริง • ข้อมูลจาก YouTube Data 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rcRect l="5500" t="8500" r="5500" b="12000"/>
          <a:stretch>
            <a:fillRect/>
          </a:stretch>
        </p:blipFill>
        <p:spPr>
          <a:xfrm>
            <a:off x="1406760" y="2395728"/>
            <a:ext cx="6257326" cy="38039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05088" y="2496312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2510028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1744" y="2487168"/>
            <a:ext cx="2048256" cy="40233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เลือกหมวดกีฬา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3017520"/>
            <a:ext cx="2706624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หรือพิมพ์คำค้น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703320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3717035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4" y="3694176"/>
            <a:ext cx="2048256" cy="40233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เลือกรายการ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4224528"/>
            <a:ext cx="2706624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ยอดนิยม / ล่าสุด / ยอดชม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4910328"/>
            <a:ext cx="502920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4924044"/>
            <a:ext cx="32004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4901184"/>
            <a:ext cx="2048256" cy="40233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กดวิเคราะห์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5431536"/>
            <a:ext cx="2706624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เปิดหน้าผลของวิดีโอนั้น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07 /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หน้าวิเคราะห์: อ่านสัดส่วนความรู้สึกและอารมณ์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46504"/>
            <a:ext cx="1097280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ภาพจริงของ UI โดยแสดงผลวิเคราะห์ที่บันทึกไว้ • 27 ความคิดเห็นหลัก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pic>
        <p:nvPicPr>
          <p:cNvPr id="9" name="Picture 8" descr="analysis.png"/>
          <p:cNvPicPr>
            <a:picLocks noChangeAspect="1"/>
          </p:cNvPicPr>
          <p:nvPr/>
        </p:nvPicPr>
        <p:blipFill>
          <a:blip r:embed="rId2"/>
          <a:srcRect l="6000" t="40700" r="6100" b="13000"/>
          <a:stretch>
            <a:fillRect/>
          </a:stretch>
        </p:blipFill>
        <p:spPr>
          <a:xfrm>
            <a:off x="658368" y="2774244"/>
            <a:ext cx="8321040" cy="29828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5440" y="2587752"/>
            <a:ext cx="228600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อ่านผลอย่างไร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291840"/>
            <a:ext cx="2286000" cy="26060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วงแหวน</a:t>
            </a: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สัดส่วน sentiment</a:t>
            </a: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แถบแนวนอน</a:t>
            </a: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สัดส่วนอารมณ์หลัก</a:t>
            </a: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จำนวนตัวอย่าง</a:t>
            </a:r>
          </a:p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บอกฐานของเปอร์เซ็นต์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08 / OBSERVED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กรณีสาธิต: วิเคราะห์ความคิดเห็น 27 รายการ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46504"/>
            <a:ext cx="1097280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วิดีโอสรุปการแข่งขันเอเชียนเกมส์ • ช่อง T Sports 7 • ผลที่บันทึก 27 กันยายน 2569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2414016"/>
          <a:ext cx="40690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84248" y="3502152"/>
            <a:ext cx="1371600" cy="65836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4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169663"/>
            <a:ext cx="1828800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ความคิดเห็น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298448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51.9%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298448" cy="30175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บวก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5486400"/>
            <a:ext cx="1298448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9BA9C0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5897880"/>
            <a:ext cx="1298448" cy="30175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เป็นกลาง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5486400"/>
            <a:ext cx="1298448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E34B6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33.3%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5897880"/>
            <a:ext cx="1298448" cy="30175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ลบ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4648" y="2496312"/>
            <a:ext cx="6254496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2734056"/>
            <a:ext cx="5705856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สิ่งที่ผลลัพธ์สะท้อน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474720"/>
            <a:ext cx="5614416" cy="15361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51.9% ถูกจัดเป็นความเห็นเชิงบวก</a:t>
            </a:r>
          </a:p>
          <a:p>
            <a:pPr>
              <a:spcAft>
                <a:spcPts val="500"/>
              </a:spcAft>
              <a:defRPr sz="2300" b="0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หัวข้อที่พบมาก: นักกีฬา 55.6%</a:t>
            </a:r>
          </a:p>
          <a:p>
            <a:pPr>
              <a:spcAft>
                <a:spcPts val="500"/>
              </a:spcAft>
              <a:defRPr sz="2300" b="0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รองลงมา: ผลงาน / ฟอร์มการเล่น 37.0%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5157216"/>
            <a:ext cx="5513832" cy="69494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34B6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เป็นการสาธิตผลของโมเดลต่อข้อมูลชุดนี้</a:t>
            </a:r>
          </a:p>
          <a:p>
            <a:pPr>
              <a:spcAft>
                <a:spcPts val="500"/>
              </a:spcAft>
              <a:defRPr sz="1600" b="1">
                <a:solidFill>
                  <a:srgbClr val="E34B6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ไม่ใช่คะแนนความแม่นยำ หรือความเห็นของผู้ชมทั้งหมด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09 / SOFTWARE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ตรวจสอบการทำงานด้วยการทดสอบอัตโนมัติ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21992"/>
            <a:ext cx="3657600" cy="361188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24912"/>
            <a:ext cx="310896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800" b="1">
                <a:solidFill>
                  <a:srgbClr val="9CE8D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36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767328"/>
            <a:ext cx="3090672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กรณีทดสอบผ่าน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736592"/>
            <a:ext cx="3081528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pytest • ข้อมูล/API จำลอง</a:t>
            </a:r>
          </a:p>
          <a:p>
            <a:pPr>
              <a:spcAft>
                <a:spcPts val="500"/>
              </a:spcAft>
              <a:defRPr sz="16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ฐานข้อมูลทดสอบแยกจากงานจริง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322576"/>
            <a:ext cx="411480" cy="320040"/>
          </a:xfrm>
          <a:prstGeom prst="roundRect">
            <a:avLst>
              <a:gd name="adj" fmla="val 12000"/>
            </a:avLst>
          </a:prstGeom>
          <a:solidFill>
            <a:srgbClr val="D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2336292"/>
            <a:ext cx="22860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04288"/>
            <a:ext cx="571500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โครงสร้างและการคำนวณ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898648"/>
            <a:ext cx="566928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schema, comment ID, label และเปอร์เซ็นต์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3520440"/>
            <a:ext cx="411480" cy="320040"/>
          </a:xfrm>
          <a:prstGeom prst="roundRect">
            <a:avLst>
              <a:gd name="adj" fmla="val 12000"/>
            </a:avLst>
          </a:prstGeom>
          <a:solidFill>
            <a:srgbClr val="D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3534156"/>
            <a:ext cx="22860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502152"/>
            <a:ext cx="571500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สถานการณ์ผิดพลาด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096512"/>
            <a:ext cx="566928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คีย์หาย, timeout, HTTP error และผลไม่ครบ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718304"/>
            <a:ext cx="411480" cy="320040"/>
          </a:xfrm>
          <a:prstGeom prst="roundRect">
            <a:avLst>
              <a:gd name="adj" fmla="val 12000"/>
            </a:avLst>
          </a:prstGeom>
          <a:solidFill>
            <a:srgbClr val="D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4732020"/>
            <a:ext cx="22860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700016"/>
            <a:ext cx="571500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การเชื่อมขั้นตอน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294376"/>
            <a:ext cx="566928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กรองวิดีโอกีฬาและบันทึกผลแบบจำลอง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10 / DEPLOYMENT &amp;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เปิดใช้ผ่าน Cloudflare และเข้าใจเวลาที่ต้องรอ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21992"/>
            <a:ext cx="315468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14016"/>
            <a:ext cx="2743200" cy="42062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ผู้ใช้งาน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07792"/>
            <a:ext cx="2743200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HTTPS / เบราว์เซอร์</a:t>
            </a:r>
          </a:p>
        </p:txBody>
      </p:sp>
      <p:sp>
        <p:nvSpPr>
          <p:cNvPr id="11" name="Chevron 10"/>
          <p:cNvSpPr/>
          <p:nvPr/>
        </p:nvSpPr>
        <p:spPr>
          <a:xfrm>
            <a:off x="3986783" y="2697480"/>
            <a:ext cx="347472" cy="246888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221992"/>
            <a:ext cx="315468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14016"/>
            <a:ext cx="2743200" cy="42062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Cloudflare Tunnel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07792"/>
            <a:ext cx="2743200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เชื่อมมายังเครื่องผู้พัฒนา</a:t>
            </a:r>
          </a:p>
        </p:txBody>
      </p:sp>
      <p:sp>
        <p:nvSpPr>
          <p:cNvPr id="15" name="Chevron 14"/>
          <p:cNvSpPr/>
          <p:nvPr/>
        </p:nvSpPr>
        <p:spPr>
          <a:xfrm>
            <a:off x="7827264" y="2697480"/>
            <a:ext cx="347472" cy="246888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221992"/>
            <a:ext cx="315468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414016"/>
            <a:ext cx="2743200" cy="420624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เว็บ +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907792"/>
            <a:ext cx="2743200" cy="3474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เรียก YouTube และ Gemini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" y="3977639"/>
            <a:ext cx="5285232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" y="3977639"/>
            <a:ext cx="50292" cy="2057400"/>
          </a:xfrm>
          <a:prstGeom prst="rect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51959"/>
            <a:ext cx="4828032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ปัจจัยด้านเวลา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020055"/>
            <a:ext cx="4828032" cy="8686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ดึงคอมเมนต์ → รอโมเดล → บันทึกผล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→ ดึงคอมเมนต์ยอดนิยมก่อนแสดงกราฟ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77639"/>
            <a:ext cx="52578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3977639"/>
            <a:ext cx="50292" cy="205740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51959"/>
            <a:ext cx="480060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สภาพแวดล้อมสาธิต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5020055"/>
            <a:ext cx="4800600" cy="8686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Quick Tunnel เป็นลิงก์ชั่วคราว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ต้องเปิดเครื่องและเซิร์ฟเวอร์ตลอดเวลา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11 /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ข้อจำกัดที่ต้องใช้ประกอบการตีความผล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194560"/>
            <a:ext cx="5248656" cy="1810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2194560"/>
            <a:ext cx="50292" cy="1810512"/>
          </a:xfrm>
          <a:prstGeom prst="rect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68879"/>
            <a:ext cx="4791456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ขอบเขตกลุ่มตัวอย่าง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236975"/>
            <a:ext cx="4791456" cy="6217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ไม่เกิน 100 ความคิดเห็นหลัก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ไม่รวมทุก reply และไม่ใช่การสุ่ม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194560"/>
            <a:ext cx="5248656" cy="1810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194560"/>
            <a:ext cx="50292" cy="1810512"/>
          </a:xfrm>
          <a:prstGeom prst="rect">
            <a:avLst/>
          </a:prstGeom>
          <a:solidFill>
            <a:srgbClr val="E3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468879"/>
            <a:ext cx="4791456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ความหมายและบริบท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236975"/>
            <a:ext cx="4791456" cy="6217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คำประชด คำย่อ และภาษากีฬา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อาจทำให้จำแนกคลาดเคลื่อน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187952"/>
            <a:ext cx="5248656" cy="1810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" y="4187952"/>
            <a:ext cx="50292" cy="1810512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462272"/>
            <a:ext cx="4791456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บริการภายนอก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5230368"/>
            <a:ext cx="4791456" cy="6217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ขึ้นกับคีย์ โควตา เครือข่าย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และความพร้อมของ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187952"/>
            <a:ext cx="5248656" cy="1810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187952"/>
            <a:ext cx="50292" cy="1810512"/>
          </a:xfrm>
          <a:prstGeom prst="rect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462272"/>
            <a:ext cx="4791456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การตรวจสอบย้อนหลัง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5230368"/>
            <a:ext cx="4791456" cy="62179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ยังไม่บันทึก prompt/model version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และ label รายข้อความใน snapshot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12 /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แผนประเมินคุณภาพเชิงวิจัยในขั้นต่อไป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46504"/>
            <a:ext cx="10972800" cy="5669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ส่วนนี้เป็นแผนดำเนินงาน ยังไม่มีค่าความแม่นยำหรือผลประเมินผู้ใช้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532888"/>
            <a:ext cx="3502152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2532888"/>
            <a:ext cx="50292" cy="3575304"/>
          </a:xfrm>
          <a:prstGeom prst="rect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3090672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392424"/>
            <a:ext cx="3044952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สร้างข้อมูลอ้างอิง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160520"/>
            <a:ext cx="3044952" cy="180136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เลือกตัวอย่างหลายประเภทกีฬา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ให้ผู้ประเมินอย่างน้อย 2 คน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ติดป้ายกำกับตามคู่มือเดียวกัน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ตรวจความสอดคล้องระหว่างคน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532888"/>
            <a:ext cx="3502152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532888"/>
            <a:ext cx="50292" cy="3575304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670048"/>
            <a:ext cx="3090672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9D83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392424"/>
            <a:ext cx="3044952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ประเมินผลจำแนก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4160520"/>
            <a:ext cx="3044952" cy="180136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เปรียบเทียบกับ label อ้างอิง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รายงาน Macro-F1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แสดง confusion matrix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วิเคราะห์คำประชด / ภาษาปน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532888"/>
            <a:ext cx="3447288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532888"/>
            <a:ext cx="50292" cy="3575304"/>
          </a:xfrm>
          <a:prstGeom prst="rect">
            <a:avLst/>
          </a:prstGeom>
          <a:solidFill>
            <a:srgbClr val="E3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2670048"/>
            <a:ext cx="3035808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34B6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92424"/>
            <a:ext cx="2990088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ประเมินการใช้งาน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60520"/>
            <a:ext cx="2990088" cy="180136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จับเวลาแยกแต่ละขั้นตอน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รายงาน p50 / p95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ทดสอบภารกิจและความเข้าใจ</a:t>
            </a:r>
          </a:p>
          <a:p>
            <a:pPr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ของผู้ใช้กลุ่มเป้าหมาย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A7B5D1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13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สิ่งที่โครงงานพัฒนาได้ และแนวทางต่อยอด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344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7B5D1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0789920" cy="7315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จากคอมเมนต์ → ผลวิเคราะห์ที่อ่านและตรวจสอบได้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91840"/>
            <a:ext cx="210312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9CE8D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60520"/>
            <a:ext cx="3200400" cy="5760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เชื่อมข้อมูลจริง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809744"/>
            <a:ext cx="320040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+ Gemini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291840"/>
            <a:ext cx="210312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9CE8D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160520"/>
            <a:ext cx="3200400" cy="5760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ตรวจผลก่อนแสดง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809744"/>
            <a:ext cx="320040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schema + สถิติจากตัวอย่าง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291840"/>
            <a:ext cx="210312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9CE8D9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4160520"/>
            <a:ext cx="3200400" cy="5760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นำเสนอผ่านเว็บ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4809744"/>
            <a:ext cx="320040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กราฟ + สรุปภาษาไทย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79008"/>
            <a:ext cx="10716768" cy="4937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6C5D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ต่อยอด: ใช้ผลเดิมเมื่อเปิดซ้ำ • แสดงกราฟก่อนโหลดส่วนเสริม • ประเมินคุณภาพด้วยข้อมูลอ้างอิง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เอกสารอ้างอิงและหลักฐานประกอบ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48256"/>
            <a:ext cx="9875520" cy="365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hlinkClick r:id="rId2"/>
                <a:ea typeface="Leelawadee UI"/>
                <a:cs typeface="Leelawadee UI"/>
              </a:rPr>
              <a:t>YouTube Data API — Search.list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68296"/>
            <a:ext cx="9966960" cy="3108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https://developers.google.com/youtube/v3/docs/search/list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15768"/>
            <a:ext cx="54864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715768"/>
            <a:ext cx="9875520" cy="365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hlinkClick r:id="rId3"/>
                <a:ea typeface="Leelawadee UI"/>
                <a:cs typeface="Leelawadee UI"/>
              </a:rPr>
              <a:t>YouTube Data API — CommentThreads.list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35808"/>
            <a:ext cx="9966960" cy="3108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https://developers.google.com/youtube/v3/docs/commentThreads/list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383280"/>
            <a:ext cx="54864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383280"/>
            <a:ext cx="9875520" cy="365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hlinkClick r:id="rId4"/>
                <a:ea typeface="Leelawadee UI"/>
                <a:cs typeface="Leelawadee UI"/>
              </a:rPr>
              <a:t>Gemini API — Structured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703320"/>
            <a:ext cx="9966960" cy="3108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https://ai.google.dev/gemini-api/docs/structured-output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050791"/>
            <a:ext cx="54864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050791"/>
            <a:ext cx="9875520" cy="365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hlinkClick r:id="rId5"/>
                <a:ea typeface="Leelawadee UI"/>
                <a:cs typeface="Leelawadee UI"/>
              </a:rPr>
              <a:t>Cloudflare — Quick Tunnels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370831"/>
            <a:ext cx="9966960" cy="3108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https://developers.cloudflare.com/cloudflare-one/networks/connectors/cloudflare-tunnel/do-more-with-tunnels/trycloudflare/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4718304"/>
            <a:ext cx="548640" cy="4114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155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[5]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718304"/>
            <a:ext cx="9875520" cy="365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43C"/>
                </a:solidFill>
                <a:latin typeface="Leelawadee UI"/>
              </a:defRPr>
            </a:pPr>
            <a:r>
              <a:rPr lang="th-TH">
                <a:latin typeface="Leelawadee UI"/>
                <a:hlinkClick r:id="rId6"/>
                <a:ea typeface="Leelawadee UI"/>
                <a:cs typeface="Leelawadee UI"/>
              </a:rPr>
              <a:t>AUCC — แนวทางและแม่แบบการนำเสนอ (ตรวจรุ่นงานก่อนส่ง)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038344"/>
            <a:ext cx="9966960" cy="31089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https://aucc2026.rbru.ac.th/submission/submission-guideline/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5632704"/>
            <a:ext cx="10698480" cy="57607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หลักฐานโครงงาน: source code • evidence.json • test-results.txt • ภาพหน้าจอระบบ</a:t>
            </a:r>
          </a:p>
          <a:p>
            <a:pPr>
              <a:spcAft>
                <a:spcPts val="500"/>
              </a:spcAft>
              <a:defRPr sz="1400" b="0">
                <a:solidFill>
                  <a:srgbClr val="62718B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วันที่ตรวจเอกสารและจัดทำภาพ: 27 กันยายน 2569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A7B5D1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ขอบคุณครับ / ค่ะ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344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7B5D1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1083564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FFF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คำถามและข้อเสนอแนะ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10712"/>
            <a:ext cx="10698480" cy="6858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C6D2E8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ระบบวิเคราะห์ความคิดเห็นต่อวิดีโอกีฬาบน YouTube ด้วย Gemini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489704"/>
            <a:ext cx="4343400" cy="0"/>
          </a:xfrm>
          <a:prstGeom prst="line">
            <a:avLst/>
          </a:prstGeom>
          <a:ln w="50800">
            <a:solidFill>
              <a:srgbClr val="009D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5038344"/>
            <a:ext cx="10625328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B6C5D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ประเด็นที่พร้อมอภิปราย</a:t>
            </a:r>
          </a:p>
          <a:p>
            <a:pPr>
              <a:spcAft>
                <a:spcPts val="500"/>
              </a:spcAft>
              <a:defRPr sz="2000" b="0">
                <a:solidFill>
                  <a:srgbClr val="B6C5DF"/>
                </a:solidFill>
                <a:latin typeface="Leelawadee UI"/>
              </a:defRPr>
            </a:pPr>
            <a:r>
              <a:rPr lang="th-TH">
                <a:latin typeface="Leelawadee UI"/>
                <a:ea typeface="Leelawadee UI"/>
                <a:cs typeface="Leelawadee UI"/>
              </a:rPr>
              <a:t>ขอบเขตตัวอย่าง • ความน่าเชื่อถือของผล • เวลาในการตอบสนอง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ระบบวิเคราะห์ความคิดเห็นต่อวิดีโอกีฬาบน YouTube ด้วย Gemini</dc:title>
  <dc:subject>โครงงานระดับปริญญาตรีสำหรับเตรียมนำเสนอ AUCC</dc:subject>
  <dc:creator>ผู้จัดทำโครงงาน</dc:creator>
  <cp:keywords>YouTube, Gemini, Sentiment Analysis, Sports, AUCC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